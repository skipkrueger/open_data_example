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6" r:id="rId6"/>
    <p:sldId id="267" r:id="rId7"/>
    <p:sldId id="262" r:id="rId8"/>
    <p:sldId id="265" r:id="rId9"/>
    <p:sldId id="263" r:id="rId10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8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51C564-A521-3E95-5A3A-22DCEF739C9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5C1E4-6E21-12FB-C685-D034BB5F0A13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BFD9E-31C6-4540-1275-4FE4F35610F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8B8F6-914E-8D8C-CD72-969070FFE6E3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DE9411D-D4BC-44D0-BA49-43DB77463FD5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48496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E2A76-7FBD-5F7C-004D-81C5CBC9E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021F9-0B3F-30DC-C0D1-2D6D653AE05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21D8B3C-1AA5-DAEC-7255-9C06AAC8B64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D3D85-37DA-1DB8-9C39-444677724AB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2879A-C399-D552-305B-C4291E28615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31EF6-252B-9A2C-4795-DC56CBF9ED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C51745F2-CD21-45DE-A1BD-5BFC5B8E56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7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7F1F7-79F4-BA00-1378-FCEF3162397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89080C9-80BD-4B94-9C63-50FCD9257B15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6B851-B097-63A9-07A1-C23ABE1153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31FAC-3E94-32D3-9C90-B43DF31EAD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61C0D-4923-702B-BD20-C7A09C3C58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352E5E-0BDD-4008-B2E1-990614DB8CEA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5570C-C9ED-BB60-6341-9BABF7AB4A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B8565-E4F4-017D-F7C8-E5BB6DCEDF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77E23-ABD2-2E58-5099-400B0511EA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AE29F8-EEA3-48DC-925C-8AB0394FB856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E67EF-C25E-8C0C-400F-183DE221B5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5F525-036F-BDA8-82F8-0B22B8D191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442F4-428A-5B8A-307B-8D8BAA41E0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AFF4B0E-8B1F-4461-A7F3-85ABF1CCAF49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B6A64-5A82-420D-CFB9-7EF88112BA6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7AF39-2DE8-BEC1-432C-DA2F49C7BD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C51745F2-CD21-45DE-A1BD-5BFC5B8E56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02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C51745F2-CD21-45DE-A1BD-5BFC5B8E56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8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E45A9-2393-6415-2836-6E895E574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8EC83-86D8-9C50-1AFB-421922100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FAD2D-7B7A-9287-CEFB-B7042910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7008-2B64-4D0B-AD3B-F7D74134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7C7C5-57AC-0DCD-8E74-907611D2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DC13CF-ABF5-4EC0-AE0E-18AA3A2B97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C32-AE09-38AF-7BE5-9EF6A3A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91EBF-DD4C-3381-EDCE-E78F0766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68F1B-5567-FC93-A847-5C04FCD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00E96-FD86-0107-33B0-913E6D1F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78183-6B13-5930-AE57-9F6509A1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AB923B-72E9-4F20-AAA9-EB5605D7CF9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6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647E-195D-3BC9-AA9B-57D1E157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1F69B-46E8-7348-EF56-4BBB84183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A49A-B397-9E41-2E99-73E07499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8601C-C0B3-5B19-D7D5-6FD0C193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9301-E794-FDCE-F558-B1CEFFD2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93B88F9-9B28-4B20-A32E-DBFA77E2AE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BCB2-5C1B-AEA1-4021-54D4C06B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A71A-69EC-E781-7F68-38EC8B758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A2DFC-7007-73C1-2216-EFE886F43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D72D6-B12A-F623-9154-A26725E1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8606-301D-C0FD-0F75-958CB98F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CA662-FE36-68E1-C8F8-2F8BB431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18DA5F-AE22-499A-B976-7A7C47D3F7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0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51D3-5B42-20D6-4511-9E9728A3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A3BC-66E8-1909-B191-64F80C7D7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46C8D-E117-92A4-0669-4621E06B3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1C461-1D39-4282-11C8-DC2386E4D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C3E6F-D6F7-EC07-A2EA-2E82804A6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78D5D-CCCE-F4C0-C816-BE8618FD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211F9-414E-411E-C430-7B995A1F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AC21F-A13B-A002-FC87-3E8EB541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9E1224-DAF3-4410-8675-A0E1832898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7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200E-45E9-C114-D0CD-69ADE6E2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1FFC9-A295-B809-0742-6BA2F00A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8B130-AED4-E96A-BE81-495C6B29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239E2-72C4-FDCC-C79D-A537972C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CECD64-A6B4-4134-BDA8-C3569986BE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7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1A57B-E8FB-88E8-103F-AD76C878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47BC6-6591-AAE9-353F-D3D3CE35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1FFE1-3CCD-9A28-1D7F-B17E4DAA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A1568E7-35B7-424A-930E-2AA571F086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529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2528-401B-4EF1-7B41-1ADB8EA18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D411B-B5F9-D944-B7A8-810AF4012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F9F3A-8B4A-8F03-FE24-28E5FCCF8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9AC89-8B82-A838-BD3A-CC4D8F4F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ABC9B-D633-C46D-2BF8-61798865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31A76-5A2F-98D3-2842-9A0D8DBF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B527AC-33F4-4DD7-B1E9-6424F7D92F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F3B-0DF9-6421-2ED1-FFBF2AA3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DD738-7C70-3888-78D7-E388D400A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1B172-C339-E084-A319-3840848E4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48D7A-C3C3-7D2A-5AE3-079F3ABC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0687A-1633-1F32-5A77-CE1B2D61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FC8F8-C80E-74B5-EDB6-254D7609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634CB4-BF55-4FD1-A664-24F0BC3BB3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6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EFE3-7A31-2728-2100-F1A47847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F6293-CBD6-9C3F-5970-B01536B07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08FBA-BF2E-46FC-4795-613717F1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94336-71A6-E420-A02E-1DA8F282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65A8B-1FE6-1586-DF9D-5657863E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5994DF-4FB2-4940-806C-6DF2157651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6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7B53B-90A4-B632-3036-FA13A3022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98747-5B8B-788F-8A66-F3502A9B5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45B1-FFC7-8A87-D410-8899CAEE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1579-F1D6-895A-B036-FB68346A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70740-45AD-167B-71E5-BAA345D1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9CCA1C-5150-42EC-B3A6-3787354F15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0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60060-FBC3-00DE-BF85-A5E35177B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04C4A-3AC7-C6FC-80A5-6FC8972B3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F7768-A1B2-B41E-321B-B54F5C61764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EB17C-8405-55E6-E7DB-8F392C316C2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B1816-93D9-A534-48E4-C24F7531700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3CABD020-EAFB-481D-8BF0-37ACCDA0F01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emojidb.org/" TargetMode="External"/><Relationship Id="rId7" Type="http://schemas.openxmlformats.org/officeDocument/2006/relationships/hyperlink" Target="https://skipkrueger.quarto.pub/evaluation/" TargetMode="External"/><Relationship Id="rId2" Type="http://schemas.openxmlformats.org/officeDocument/2006/relationships/hyperlink" Target="https://github.com/skipkrueger?tab=repositori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isme.co/blog/color-blind-friendly-palette/" TargetMode="External"/><Relationship Id="rId5" Type="http://schemas.openxmlformats.org/officeDocument/2006/relationships/hyperlink" Target="https://mapline.com/training/quick-reference-guide/html-color-names/" TargetMode="External"/><Relationship Id="rId4" Type="http://schemas.openxmlformats.org/officeDocument/2006/relationships/hyperlink" Target="https://www.vertex42.com/ExcelTips/unicode-symbols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kip-krueger-39a3b9153/" TargetMode="External"/><Relationship Id="rId2" Type="http://schemas.openxmlformats.org/officeDocument/2006/relationships/hyperlink" Target="mailto:Skip@KruegerConsulting.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C7E7015-7D4C-832D-04BD-82A9EC865B5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9120" y="259556"/>
            <a:ext cx="9071640" cy="4893647"/>
          </a:xfrm>
        </p:spPr>
        <p:txBody>
          <a:bodyPr vert="horz" anchor="ctr">
            <a:spAutoFit/>
          </a:bodyPr>
          <a:lstStyle/>
          <a:p>
            <a:pPr lvl="0" algn="ctr"/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Some Tips on using Tableau</a:t>
            </a:r>
          </a:p>
          <a:p>
            <a:pPr lvl="0" algn="ctr"/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And Thoughts on Approaches to </a:t>
            </a:r>
          </a:p>
          <a:p>
            <a:pPr lvl="0" algn="ctr"/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Performance Measurement</a:t>
            </a:r>
          </a:p>
          <a:p>
            <a:pPr lvl="0" algn="ctr"/>
            <a:endParaRPr lang="en-US" dirty="0"/>
          </a:p>
          <a:p>
            <a:pPr lvl="0" algn="ctr"/>
            <a:endParaRPr lang="en-US" dirty="0"/>
          </a:p>
          <a:p>
            <a:pPr lvl="0" algn="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Light" pitchFamily="34"/>
              </a:rPr>
              <a:t>Skip Krueger, PhD</a:t>
            </a:r>
          </a:p>
          <a:p>
            <a:pPr lvl="0" algn="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Light" pitchFamily="34"/>
              </a:rPr>
              <a:t>July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0A06B32-C90A-F2D5-B7C4-983ACB71B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037" y="52607"/>
            <a:ext cx="7724900" cy="596924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B78CF90-2D54-2812-28DF-A63FEDAB7250}"/>
              </a:ext>
            </a:extLst>
          </p:cNvPr>
          <p:cNvSpPr txBox="1">
            <a:spLocks/>
          </p:cNvSpPr>
          <p:nvPr/>
        </p:nvSpPr>
        <p:spPr>
          <a:xfrm>
            <a:off x="173688" y="52607"/>
            <a:ext cx="2889056" cy="139123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pPr algn="l"/>
            <a:r>
              <a:rPr lang="en-US" sz="4800" b="1" dirty="0">
                <a:solidFill>
                  <a:schemeClr val="accent4">
                    <a:lumMod val="50000"/>
                  </a:schemeClr>
                </a:solidFill>
              </a:rPr>
              <a:t>Where it all started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BD2A-53F1-A38B-8350-D1C765E8B6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000" cy="685799"/>
          </a:xfrm>
        </p:spPr>
        <p:txBody>
          <a:bodyPr vert="horz"/>
          <a:lstStyle/>
          <a:p>
            <a:pPr lvl="0" algn="l"/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The “Logic Model” in Our World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601837-0A4E-2AA0-6A5E-8F6D3AFF961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685799"/>
            <a:ext cx="6513480" cy="455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7DF010-F782-1F94-6155-AF8522CDFDF6}"/>
              </a:ext>
            </a:extLst>
          </p:cNvPr>
          <p:cNvSpPr txBox="1"/>
          <p:nvPr/>
        </p:nvSpPr>
        <p:spPr>
          <a:xfrm>
            <a:off x="2971800" y="914400"/>
            <a:ext cx="2743199" cy="7987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1">
                <a:solidFill>
                  <a:srgbClr val="D80B72"/>
                </a:solidFill>
              </a:defRPr>
            </a:pPr>
            <a:r>
              <a:rPr lang="en-US" sz="1600" b="1" i="0" u="none" strike="noStrike" kern="1200" cap="none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Liberation Sans" pitchFamily="18"/>
                <a:ea typeface="Microsoft YaHei" pitchFamily="2"/>
                <a:cs typeface="Lucida Sans" pitchFamily="2"/>
              </a:rPr>
              <a:t>Assumption 1: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1">
                <a:solidFill>
                  <a:srgbClr val="D80B72"/>
                </a:solidFill>
              </a:defRPr>
            </a:pPr>
            <a:r>
              <a:rPr lang="en-US" sz="1600" b="1" i="0" u="none" strike="noStrike" kern="1200" cap="none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18"/>
                <a:ea typeface="Microsoft YaHei" pitchFamily="2"/>
                <a:cs typeface="Lucida Sans" pitchFamily="2"/>
              </a:rPr>
              <a:t>This much money will pay for this much Activity.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F304A-B8E2-CAB9-4091-95C246DB245C}"/>
              </a:ext>
            </a:extLst>
          </p:cNvPr>
          <p:cNvSpPr txBox="1"/>
          <p:nvPr/>
        </p:nvSpPr>
        <p:spPr>
          <a:xfrm>
            <a:off x="4114800" y="2156877"/>
            <a:ext cx="2039168" cy="103472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1">
                <a:solidFill>
                  <a:srgbClr val="D80B72"/>
                </a:solidFill>
              </a:defRPr>
            </a:pPr>
            <a:r>
              <a:rPr lang="en-US" sz="1600" b="1" i="0" u="none" strike="noStrike" kern="1200" cap="none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Liberation Sans" pitchFamily="18"/>
                <a:ea typeface="Microsoft YaHei" pitchFamily="2"/>
                <a:cs typeface="Lucida Sans" pitchFamily="2"/>
              </a:rPr>
              <a:t>Assumption 2: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1">
                <a:solidFill>
                  <a:srgbClr val="D80B72"/>
                </a:solidFill>
              </a:defRPr>
            </a:pPr>
            <a:r>
              <a:rPr lang="en-US" sz="1600" b="1" i="0" u="none" strike="noStrike" kern="1200" cap="none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18"/>
                <a:ea typeface="Microsoft YaHei" pitchFamily="2"/>
                <a:cs typeface="Lucida Sans" pitchFamily="2"/>
              </a:rPr>
              <a:t>This much activity will give this many Outputs.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86604-F59A-DFBC-BA4A-27C74CC17D1C}"/>
              </a:ext>
            </a:extLst>
          </p:cNvPr>
          <p:cNvSpPr txBox="1"/>
          <p:nvPr/>
        </p:nvSpPr>
        <p:spPr>
          <a:xfrm>
            <a:off x="186380" y="3714062"/>
            <a:ext cx="2869714" cy="127068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1">
                <a:solidFill>
                  <a:srgbClr val="D80B72"/>
                </a:solidFill>
              </a:defRPr>
            </a:pPr>
            <a:r>
              <a:rPr lang="en-US" sz="1600" b="1" i="0" u="none" strike="noStrike" kern="1200" cap="none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Liberation Sans" pitchFamily="18"/>
                <a:ea typeface="Microsoft YaHei" pitchFamily="2"/>
                <a:cs typeface="Lucida Sans" pitchFamily="2"/>
              </a:rPr>
              <a:t>Assumption 3: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1">
                <a:solidFill>
                  <a:srgbClr val="D80B72"/>
                </a:solidFill>
              </a:defRPr>
            </a:pPr>
            <a:r>
              <a:rPr lang="en-US" sz="1600" b="1" i="0" u="none" strike="noStrike" kern="1200" cap="none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18"/>
                <a:ea typeface="Microsoft YaHei" pitchFamily="2"/>
                <a:cs typeface="Lucida Sans" pitchFamily="2"/>
              </a:rPr>
              <a:t>This many Outputs will lead to this change in society (measured as Outcomes/ Effectiveness/Quality)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54A8AD-C86C-44DC-93EB-63E4978E92F3}"/>
              </a:ext>
            </a:extLst>
          </p:cNvPr>
          <p:cNvGrpSpPr/>
          <p:nvPr/>
        </p:nvGrpSpPr>
        <p:grpSpPr>
          <a:xfrm>
            <a:off x="1600200" y="1143000"/>
            <a:ext cx="1371600" cy="685800"/>
            <a:chOff x="1600200" y="1143000"/>
            <a:chExt cx="1371600" cy="685800"/>
          </a:xfrm>
        </p:grpSpPr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62A5DB31-C353-7472-12A7-64673CC56DE5}"/>
                </a:ext>
              </a:extLst>
            </p:cNvPr>
            <p:cNvSpPr/>
            <p:nvPr/>
          </p:nvSpPr>
          <p:spPr>
            <a:xfrm flipH="1">
              <a:off x="2743199" y="1371599"/>
              <a:ext cx="228601" cy="457201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="horz" wrap="square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F78CB20E-253F-F568-75DA-4892202F0AD2}"/>
                </a:ext>
              </a:extLst>
            </p:cNvPr>
            <p:cNvSpPr/>
            <p:nvPr/>
          </p:nvSpPr>
          <p:spPr>
            <a:xfrm flipH="1" flipV="1">
              <a:off x="1600200" y="1143000"/>
              <a:ext cx="1371600" cy="22859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="horz" wrap="square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2F8597-26E1-7C5F-1C5F-3830B30D9094}"/>
              </a:ext>
            </a:extLst>
          </p:cNvPr>
          <p:cNvGrpSpPr/>
          <p:nvPr/>
        </p:nvGrpSpPr>
        <p:grpSpPr>
          <a:xfrm>
            <a:off x="3200400" y="2286000"/>
            <a:ext cx="914400" cy="685800"/>
            <a:chOff x="3200400" y="2286000"/>
            <a:chExt cx="914400" cy="685800"/>
          </a:xfrm>
        </p:grpSpPr>
        <p:sp>
          <p:nvSpPr>
            <p:cNvPr id="11" name="Straight Connector 10">
              <a:extLst>
                <a:ext uri="{FF2B5EF4-FFF2-40B4-BE49-F238E27FC236}">
                  <a16:creationId xmlns:a16="http://schemas.microsoft.com/office/drawing/2014/main" id="{3834C16A-65AC-1095-1CB9-8AF33F4E5967}"/>
                </a:ext>
              </a:extLst>
            </p:cNvPr>
            <p:cNvSpPr/>
            <p:nvPr/>
          </p:nvSpPr>
          <p:spPr>
            <a:xfrm flipH="1">
              <a:off x="3962520" y="2514600"/>
              <a:ext cx="152280" cy="45720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="horz" wrap="square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  <p:sp>
          <p:nvSpPr>
            <p:cNvPr id="12" name="Straight Connector 11">
              <a:extLst>
                <a:ext uri="{FF2B5EF4-FFF2-40B4-BE49-F238E27FC236}">
                  <a16:creationId xmlns:a16="http://schemas.microsoft.com/office/drawing/2014/main" id="{D8B6FEEC-CB40-ED14-D730-623EEB81ACD4}"/>
                </a:ext>
              </a:extLst>
            </p:cNvPr>
            <p:cNvSpPr/>
            <p:nvPr/>
          </p:nvSpPr>
          <p:spPr>
            <a:xfrm flipH="1" flipV="1">
              <a:off x="3200400" y="2286000"/>
              <a:ext cx="914400" cy="22860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="horz" wrap="square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503C3B-9C8E-1B85-6C40-9BFA9F18C298}"/>
              </a:ext>
            </a:extLst>
          </p:cNvPr>
          <p:cNvGrpSpPr/>
          <p:nvPr/>
        </p:nvGrpSpPr>
        <p:grpSpPr>
          <a:xfrm>
            <a:off x="2922714" y="3893562"/>
            <a:ext cx="1600201" cy="914400"/>
            <a:chOff x="2743199" y="3886200"/>
            <a:chExt cx="1600201" cy="914400"/>
          </a:xfrm>
        </p:grpSpPr>
        <p:sp>
          <p:nvSpPr>
            <p:cNvPr id="14" name="Straight Connector 13">
              <a:extLst>
                <a:ext uri="{FF2B5EF4-FFF2-40B4-BE49-F238E27FC236}">
                  <a16:creationId xmlns:a16="http://schemas.microsoft.com/office/drawing/2014/main" id="{A880A79F-BF9D-E715-8EA3-3B2382C1B976}"/>
                </a:ext>
              </a:extLst>
            </p:cNvPr>
            <p:cNvSpPr/>
            <p:nvPr/>
          </p:nvSpPr>
          <p:spPr>
            <a:xfrm flipV="1">
              <a:off x="2743199" y="3886200"/>
              <a:ext cx="266761" cy="60948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="horz" wrap="square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88ABBEA9-1659-4F4F-FC25-B11F23D67CCD}"/>
                </a:ext>
              </a:extLst>
            </p:cNvPr>
            <p:cNvSpPr/>
            <p:nvPr/>
          </p:nvSpPr>
          <p:spPr>
            <a:xfrm>
              <a:off x="2743199" y="4495680"/>
              <a:ext cx="1600201" cy="30492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="horz" wrap="square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3B02FB5-5456-1AA4-6D67-227701132160}"/>
              </a:ext>
            </a:extLst>
          </p:cNvPr>
          <p:cNvSpPr txBox="1"/>
          <p:nvPr/>
        </p:nvSpPr>
        <p:spPr>
          <a:xfrm>
            <a:off x="6696539" y="109392"/>
            <a:ext cx="3243839" cy="4975421"/>
          </a:xfrm>
          <a:prstGeom prst="rect">
            <a:avLst/>
          </a:prstGeom>
          <a:noFill/>
          <a:ln w="12600">
            <a:solidFill>
              <a:srgbClr val="2A6099">
                <a:alpha val="80000"/>
              </a:srgbClr>
            </a:solidFill>
            <a:prstDash val="solid"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alibri Light" pitchFamily="34"/>
              </a:defRPr>
            </a:pPr>
            <a:r>
              <a:rPr lang="en-US" sz="2000" b="1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The “logic” of the </a:t>
            </a:r>
            <a:r>
              <a:rPr lang="en-US" sz="2000" b="1" i="0" u="none" strike="noStrike" kern="1200" cap="none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latin typeface="Calibri Light" pitchFamily="34"/>
                <a:ea typeface="Microsoft YaHei" pitchFamily="2"/>
                <a:cs typeface="Lucida Sans" pitchFamily="2"/>
              </a:rPr>
              <a:t>Logic Model </a:t>
            </a:r>
            <a:r>
              <a:rPr lang="en-US" sz="2000" b="1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is a set of assumptions.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alibri Light" pitchFamily="34"/>
              </a:defRPr>
            </a:pPr>
            <a:endParaRPr lang="en-US" b="0" i="0" u="none" strike="noStrike" kern="1200" cap="none" dirty="0">
              <a:ln>
                <a:noFill/>
              </a:ln>
              <a:latin typeface="Calibri Light" pitchFamily="34"/>
              <a:ea typeface="Microsoft YaHei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alibri Light" pitchFamily="34"/>
              </a:defRPr>
            </a:pPr>
            <a:r>
              <a:rPr lang="en-US" b="1" i="0" u="none" strike="noStrike" kern="1200" cap="none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Calibri Light" pitchFamily="34"/>
                <a:ea typeface="Microsoft YaHei" pitchFamily="2"/>
                <a:cs typeface="Lucida Sans" pitchFamily="2"/>
              </a:rPr>
              <a:t>The assumptions may or may not be right for your jurisdiction at that point in time.</a:t>
            </a:r>
          </a:p>
          <a:p>
            <a:pPr marL="285750" marR="0" lvl="0" indent="-28575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>
                <a:latin typeface="Calibri Light" pitchFamily="34"/>
              </a:defRPr>
            </a:pPr>
            <a:r>
              <a:rPr lang="en-US" sz="1600" b="0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Even if true in the research literature generally.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alibri Light" pitchFamily="34"/>
              </a:defRPr>
            </a:pPr>
            <a:endParaRPr lang="en-US" b="0" i="0" u="none" strike="noStrike" kern="1200" cap="none" dirty="0">
              <a:ln>
                <a:noFill/>
              </a:ln>
              <a:latin typeface="Calibri Light" pitchFamily="34"/>
              <a:ea typeface="Microsoft YaHei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alibri Light" pitchFamily="34"/>
              </a:defRPr>
            </a:pPr>
            <a:r>
              <a:rPr lang="en-US" sz="2000" b="1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So, </a:t>
            </a:r>
            <a:r>
              <a:rPr lang="en-US" sz="2000" b="1" i="0" u="none" strike="noStrike" kern="1200" cap="none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Calibri Light" pitchFamily="34"/>
                <a:ea typeface="Microsoft YaHei" pitchFamily="2"/>
                <a:cs typeface="Lucida Sans" pitchFamily="2"/>
              </a:rPr>
              <a:t>Performance Measurement </a:t>
            </a:r>
            <a:r>
              <a:rPr lang="en-US" sz="2000" b="1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has two jobs: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alibri Light" pitchFamily="34"/>
              </a:defRPr>
            </a:pPr>
            <a:endParaRPr lang="en-US" b="0" i="0" u="none" strike="noStrike" kern="1200" cap="none" dirty="0">
              <a:ln>
                <a:noFill/>
              </a:ln>
              <a:latin typeface="Calibri Light" pitchFamily="34"/>
              <a:ea typeface="Microsoft YaHei" pitchFamily="2"/>
              <a:cs typeface="Lucida Sans" pitchFamily="2"/>
            </a:endParaRPr>
          </a:p>
          <a:p>
            <a:pPr marL="342900" marR="0" lvl="0" indent="-34290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/>
              <a:defRPr>
                <a:latin typeface="Calibri Light" pitchFamily="34"/>
              </a:defRPr>
            </a:pPr>
            <a:r>
              <a:rPr lang="en-US" b="0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Check those assumptions.</a:t>
            </a:r>
          </a:p>
          <a:p>
            <a:pPr marL="342900" marR="0" lvl="0" indent="-34290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>
                <a:latin typeface="Calibri Light" pitchFamily="34"/>
              </a:defRPr>
            </a:pPr>
            <a:endParaRPr lang="en-US" sz="1600" b="0" i="0" u="none" strike="noStrike" kern="1200" cap="none" dirty="0">
              <a:ln>
                <a:noFill/>
              </a:ln>
              <a:latin typeface="Calibri Light" pitchFamily="34"/>
              <a:ea typeface="Microsoft YaHei" pitchFamily="2"/>
              <a:cs typeface="Lucida Sans" pitchFamily="2"/>
            </a:endParaRPr>
          </a:p>
          <a:p>
            <a:pPr marL="342900" marR="0" lvl="0" indent="-34290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/>
              <a:defRPr>
                <a:latin typeface="Calibri Light" pitchFamily="34"/>
              </a:defRPr>
            </a:pPr>
            <a:r>
              <a:rPr lang="en-US" b="0" i="0" u="none" strike="noStrike" kern="1200" cap="none" dirty="0">
                <a:ln>
                  <a:noFill/>
                </a:ln>
                <a:latin typeface="Calibri Light" pitchFamily="34"/>
                <a:ea typeface="Microsoft YaHei" pitchFamily="2"/>
                <a:cs typeface="Lucida Sans" pitchFamily="2"/>
              </a:rPr>
              <a:t>Track that the organization is meeting it’s promised performance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A2DC-65F4-64EC-C71F-7AF1E616CD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0480" y="0"/>
            <a:ext cx="9679319" cy="685799"/>
          </a:xfrm>
        </p:spPr>
        <p:txBody>
          <a:bodyPr vert="horz" anchorCtr="0"/>
          <a:lstStyle/>
          <a:p>
            <a:pPr lvl="0" algn="l"/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Developing the Logic: Work the logic model </a:t>
            </a:r>
            <a:r>
              <a:rPr lang="en-US" sz="2800" dirty="0">
                <a:solidFill>
                  <a:srgbClr val="00B0F0"/>
                </a:solidFill>
              </a:rPr>
              <a:t>backwards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5C49-D9E0-E311-DF98-ED08711493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0481" y="1070964"/>
            <a:ext cx="7543799" cy="3886200"/>
          </a:xfrm>
        </p:spPr>
        <p:txBody>
          <a:bodyPr vert="horz"/>
          <a:lstStyle/>
          <a:p>
            <a:pPr marL="514350" lvl="0" indent="-514350"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What social impact do we </a:t>
            </a:r>
            <a:r>
              <a:rPr lang="en-US" sz="2800" dirty="0">
                <a:solidFill>
                  <a:srgbClr val="00B0F0"/>
                </a:solidFill>
              </a:rPr>
              <a:t>want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</a:p>
          <a:p>
            <a:pPr marL="514350" lvl="0" indent="-514350"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What is the </a:t>
            </a:r>
            <a:r>
              <a:rPr lang="en-US" sz="2800" dirty="0">
                <a:solidFill>
                  <a:srgbClr val="00B0F0"/>
                </a:solidFill>
              </a:rPr>
              <a:t>best way </a:t>
            </a:r>
            <a:r>
              <a:rPr lang="en-US" sz="2800" dirty="0">
                <a:solidFill>
                  <a:schemeClr val="tx1"/>
                </a:solidFill>
              </a:rPr>
              <a:t>to get to that social impact?</a:t>
            </a:r>
          </a:p>
          <a:p>
            <a:pPr marL="514350" lvl="0" indent="-514350"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What activities will </a:t>
            </a:r>
            <a:r>
              <a:rPr lang="en-US" sz="2800" dirty="0">
                <a:solidFill>
                  <a:srgbClr val="00B0F0"/>
                </a:solidFill>
              </a:rPr>
              <a:t>provide </a:t>
            </a:r>
            <a:r>
              <a:rPr lang="en-US" sz="2800" dirty="0">
                <a:solidFill>
                  <a:schemeClr val="tx1"/>
                </a:solidFill>
              </a:rPr>
              <a:t>those outputs?</a:t>
            </a:r>
          </a:p>
          <a:p>
            <a:pPr marL="514350" lvl="0" indent="-514350"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What is the best way to organize to implement those activities and how much will it </a:t>
            </a:r>
            <a:r>
              <a:rPr lang="en-US" sz="2800" dirty="0">
                <a:solidFill>
                  <a:srgbClr val="00B0F0"/>
                </a:solidFill>
              </a:rPr>
              <a:t>cost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0C5238-0B37-FC27-EA0F-E8720B8FAAA2}"/>
              </a:ext>
            </a:extLst>
          </p:cNvPr>
          <p:cNvGrpSpPr/>
          <p:nvPr/>
        </p:nvGrpSpPr>
        <p:grpSpPr>
          <a:xfrm>
            <a:off x="8065639" y="1070964"/>
            <a:ext cx="1574420" cy="3335357"/>
            <a:chOff x="7872744" y="1019120"/>
            <a:chExt cx="2057400" cy="33353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825D3E-ABD2-B905-A3C0-B267579E1DF0}"/>
                </a:ext>
              </a:extLst>
            </p:cNvPr>
            <p:cNvSpPr txBox="1"/>
            <p:nvPr/>
          </p:nvSpPr>
          <p:spPr>
            <a:xfrm>
              <a:off x="7872744" y="1019120"/>
              <a:ext cx="2057400" cy="3335357"/>
            </a:xfrm>
            <a:prstGeom prst="rect">
              <a:avLst/>
            </a:prstGeom>
            <a:noFill/>
            <a:ln w="0">
              <a:solidFill>
                <a:srgbClr val="000000"/>
              </a:solidFill>
              <a:prstDash val="solid"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r>
                <a:rPr lang="en-US" sz="2000" b="1" i="0" u="none" strike="noStrike" kern="1200" cap="none" dirty="0">
                  <a:ln>
                    <a:noFill/>
                  </a:ln>
                  <a:solidFill>
                    <a:srgbClr val="002060"/>
                  </a:solidFill>
                  <a:latin typeface="Liberation Sans" pitchFamily="18"/>
                  <a:ea typeface="Microsoft YaHei" pitchFamily="2"/>
                  <a:cs typeface="Lucida Sans" pitchFamily="2"/>
                </a:rPr>
                <a:t>Outcomes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dirty="0"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r>
                <a:rPr lang="en-US" sz="2000" b="1" i="0" u="none" strike="noStrike" kern="1200" cap="none" dirty="0">
                  <a:ln>
                    <a:noFill/>
                  </a:ln>
                  <a:solidFill>
                    <a:srgbClr val="002060"/>
                  </a:solidFill>
                  <a:latin typeface="Liberation Sans" pitchFamily="18"/>
                  <a:ea typeface="Microsoft YaHei" pitchFamily="2"/>
                  <a:cs typeface="Lucida Sans" pitchFamily="2"/>
                </a:rPr>
                <a:t>Outputs</a:t>
              </a:r>
              <a:endParaRPr lang="en-US" sz="42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r>
                <a:rPr lang="en-US" sz="2000" b="1" i="0" u="none" strike="noStrike" kern="1200" cap="none" dirty="0">
                  <a:ln>
                    <a:noFill/>
                  </a:ln>
                  <a:solidFill>
                    <a:srgbClr val="002060"/>
                  </a:solidFill>
                  <a:latin typeface="Liberation Sans" pitchFamily="18"/>
                  <a:ea typeface="Microsoft YaHei" pitchFamily="2"/>
                  <a:cs typeface="Lucida Sans" pitchFamily="2"/>
                </a:rPr>
                <a:t>Activities</a:t>
              </a:r>
              <a:endParaRPr lang="en-US" sz="42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r>
                <a:rPr lang="en-US" sz="2000" b="1" i="0" u="none" strike="noStrike" kern="1200" cap="none" dirty="0">
                  <a:ln>
                    <a:noFill/>
                  </a:ln>
                  <a:solidFill>
                    <a:srgbClr val="002060"/>
                  </a:solidFill>
                  <a:latin typeface="Liberation Sans" pitchFamily="18"/>
                  <a:ea typeface="Microsoft YaHei" pitchFamily="2"/>
                  <a:cs typeface="Lucida Sans" pitchFamily="2"/>
                </a:rPr>
                <a:t>Inputs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000" b="1">
                  <a:solidFill>
                    <a:srgbClr val="F109CD"/>
                  </a:solidFill>
                </a:defRPr>
              </a:pPr>
              <a:endParaRPr lang="en-US" sz="2000" b="1" i="0" u="none" strike="noStrike" kern="1200" cap="none" dirty="0">
                <a:ln>
                  <a:noFill/>
                </a:ln>
                <a:solidFill>
                  <a:srgbClr val="002060"/>
                </a:solidFill>
                <a:latin typeface="Liberation Sans" pitchFamily="18"/>
                <a:ea typeface="Microsoft YaHei" pitchFamily="2"/>
                <a:cs typeface="Lucida Sans" pitchFamily="2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44B1E53-ED25-6B68-9EB9-5F5AB454AFBF}"/>
                </a:ext>
              </a:extLst>
            </p:cNvPr>
            <p:cNvCxnSpPr/>
            <p:nvPr/>
          </p:nvCxnSpPr>
          <p:spPr>
            <a:xfrm>
              <a:off x="8873926" y="1398933"/>
              <a:ext cx="0" cy="516103"/>
            </a:xfrm>
            <a:prstGeom prst="straightConnector1">
              <a:avLst/>
            </a:prstGeom>
            <a:ln w="47625">
              <a:solidFill>
                <a:schemeClr val="accent1">
                  <a:lumMod val="60000"/>
                  <a:lumOff val="40000"/>
                </a:schemeClr>
              </a:solidFill>
              <a:tailEnd type="stealth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7582054-66CB-BFA9-F1C5-63E693FB9920}"/>
                </a:ext>
              </a:extLst>
            </p:cNvPr>
            <p:cNvCxnSpPr/>
            <p:nvPr/>
          </p:nvCxnSpPr>
          <p:spPr>
            <a:xfrm>
              <a:off x="8879535" y="2284981"/>
              <a:ext cx="0" cy="516103"/>
            </a:xfrm>
            <a:prstGeom prst="straightConnector1">
              <a:avLst/>
            </a:prstGeom>
            <a:ln w="47625">
              <a:solidFill>
                <a:schemeClr val="accent1">
                  <a:lumMod val="60000"/>
                  <a:lumOff val="40000"/>
                </a:schemeClr>
              </a:solidFill>
              <a:tailEnd type="stealth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CA489C1-698D-1F7E-0725-5372653DAD8D}"/>
                </a:ext>
              </a:extLst>
            </p:cNvPr>
            <p:cNvCxnSpPr/>
            <p:nvPr/>
          </p:nvCxnSpPr>
          <p:spPr>
            <a:xfrm>
              <a:off x="8873926" y="3142587"/>
              <a:ext cx="0" cy="516103"/>
            </a:xfrm>
            <a:prstGeom prst="straightConnector1">
              <a:avLst/>
            </a:prstGeom>
            <a:ln w="47625">
              <a:solidFill>
                <a:schemeClr val="accent1">
                  <a:lumMod val="60000"/>
                  <a:lumOff val="40000"/>
                </a:schemeClr>
              </a:solidFill>
              <a:tailEnd type="stealth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BD6808E-88D0-E7B8-F1A8-C737A9630ADC}"/>
              </a:ext>
            </a:extLst>
          </p:cNvPr>
          <p:cNvSpPr/>
          <p:nvPr/>
        </p:nvSpPr>
        <p:spPr>
          <a:xfrm>
            <a:off x="7037040" y="991933"/>
            <a:ext cx="959230" cy="3580466"/>
          </a:xfrm>
          <a:prstGeom prst="rightBrace">
            <a:avLst>
              <a:gd name="adj1" fmla="val 77120"/>
              <a:gd name="adj2" fmla="val 40521"/>
            </a:avLst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78787"/>
                      <a:gd name="csY0" fmla="*/ 0 h 3580466"/>
                      <a:gd name="csX1" fmla="*/ 339394 w 678787"/>
                      <a:gd name="csY1" fmla="*/ 523481 h 3580466"/>
                      <a:gd name="csX2" fmla="*/ 339394 w 678787"/>
                      <a:gd name="csY2" fmla="*/ 952602 h 3580466"/>
                      <a:gd name="csX3" fmla="*/ 678788 w 678787"/>
                      <a:gd name="csY3" fmla="*/ 1476083 h 3580466"/>
                      <a:gd name="csX4" fmla="*/ 339394 w 678787"/>
                      <a:gd name="csY4" fmla="*/ 1999564 h 3580466"/>
                      <a:gd name="csX5" fmla="*/ 339394 w 678787"/>
                      <a:gd name="csY5" fmla="*/ 2549423 h 3580466"/>
                      <a:gd name="csX6" fmla="*/ 339394 w 678787"/>
                      <a:gd name="csY6" fmla="*/ 3056985 h 3580466"/>
                      <a:gd name="csX7" fmla="*/ 0 w 678787"/>
                      <a:gd name="csY7" fmla="*/ 3580466 h 3580466"/>
                      <a:gd name="csX8" fmla="*/ 0 w 678787"/>
                      <a:gd name="csY8" fmla="*/ 2983722 h 3580466"/>
                      <a:gd name="csX9" fmla="*/ 0 w 678787"/>
                      <a:gd name="csY9" fmla="*/ 2386977 h 3580466"/>
                      <a:gd name="csX10" fmla="*/ 0 w 678787"/>
                      <a:gd name="csY10" fmla="*/ 1754428 h 3580466"/>
                      <a:gd name="csX11" fmla="*/ 0 w 678787"/>
                      <a:gd name="csY11" fmla="*/ 1265098 h 3580466"/>
                      <a:gd name="csX12" fmla="*/ 0 w 678787"/>
                      <a:gd name="csY12" fmla="*/ 668354 h 3580466"/>
                      <a:gd name="csX13" fmla="*/ 0 w 678787"/>
                      <a:gd name="csY13" fmla="*/ 0 h 3580466"/>
                      <a:gd name="csX0" fmla="*/ 0 w 678787"/>
                      <a:gd name="csY0" fmla="*/ 0 h 3580466"/>
                      <a:gd name="csX1" fmla="*/ 339394 w 678787"/>
                      <a:gd name="csY1" fmla="*/ 523481 h 3580466"/>
                      <a:gd name="csX2" fmla="*/ 339394 w 678787"/>
                      <a:gd name="csY2" fmla="*/ 952602 h 3580466"/>
                      <a:gd name="csX3" fmla="*/ 678788 w 678787"/>
                      <a:gd name="csY3" fmla="*/ 1476083 h 3580466"/>
                      <a:gd name="csX4" fmla="*/ 339394 w 678787"/>
                      <a:gd name="csY4" fmla="*/ 1999564 h 3580466"/>
                      <a:gd name="csX5" fmla="*/ 339394 w 678787"/>
                      <a:gd name="csY5" fmla="*/ 2549423 h 3580466"/>
                      <a:gd name="csX6" fmla="*/ 339394 w 678787"/>
                      <a:gd name="csY6" fmla="*/ 3056985 h 3580466"/>
                      <a:gd name="csX7" fmla="*/ 0 w 678787"/>
                      <a:gd name="csY7" fmla="*/ 3580466 h 35804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678787" h="3580466" stroke="0" extrusionOk="0">
                        <a:moveTo>
                          <a:pt x="0" y="0"/>
                        </a:moveTo>
                        <a:cubicBezTo>
                          <a:pt x="171925" y="-9571"/>
                          <a:pt x="281849" y="255968"/>
                          <a:pt x="339394" y="523481"/>
                        </a:cubicBezTo>
                        <a:cubicBezTo>
                          <a:pt x="375214" y="659424"/>
                          <a:pt x="337395" y="816018"/>
                          <a:pt x="339394" y="952602"/>
                        </a:cubicBezTo>
                        <a:cubicBezTo>
                          <a:pt x="314573" y="1222834"/>
                          <a:pt x="488724" y="1481464"/>
                          <a:pt x="678788" y="1476083"/>
                        </a:cubicBezTo>
                        <a:cubicBezTo>
                          <a:pt x="491591" y="1495250"/>
                          <a:pt x="332515" y="1688297"/>
                          <a:pt x="339394" y="1999564"/>
                        </a:cubicBezTo>
                        <a:cubicBezTo>
                          <a:pt x="387480" y="2228515"/>
                          <a:pt x="299515" y="2291680"/>
                          <a:pt x="339394" y="2549423"/>
                        </a:cubicBezTo>
                        <a:cubicBezTo>
                          <a:pt x="379273" y="2807166"/>
                          <a:pt x="291545" y="2900182"/>
                          <a:pt x="339394" y="3056985"/>
                        </a:cubicBezTo>
                        <a:cubicBezTo>
                          <a:pt x="385199" y="3354261"/>
                          <a:pt x="181127" y="3590913"/>
                          <a:pt x="0" y="3580466"/>
                        </a:cubicBezTo>
                        <a:cubicBezTo>
                          <a:pt x="-41935" y="3310641"/>
                          <a:pt x="29367" y="3106076"/>
                          <a:pt x="0" y="2983722"/>
                        </a:cubicBezTo>
                        <a:cubicBezTo>
                          <a:pt x="-29367" y="2861368"/>
                          <a:pt x="11077" y="2663472"/>
                          <a:pt x="0" y="2386977"/>
                        </a:cubicBezTo>
                        <a:cubicBezTo>
                          <a:pt x="-11077" y="2110482"/>
                          <a:pt x="35462" y="1944130"/>
                          <a:pt x="0" y="1754428"/>
                        </a:cubicBezTo>
                        <a:cubicBezTo>
                          <a:pt x="-35462" y="1564726"/>
                          <a:pt x="38496" y="1384345"/>
                          <a:pt x="0" y="1265098"/>
                        </a:cubicBezTo>
                        <a:cubicBezTo>
                          <a:pt x="-38496" y="1145851"/>
                          <a:pt x="38311" y="957667"/>
                          <a:pt x="0" y="668354"/>
                        </a:cubicBezTo>
                        <a:cubicBezTo>
                          <a:pt x="-38311" y="379041"/>
                          <a:pt x="38722" y="216371"/>
                          <a:pt x="0" y="0"/>
                        </a:cubicBezTo>
                        <a:close/>
                      </a:path>
                      <a:path w="678787" h="3580466" fill="none" extrusionOk="0">
                        <a:moveTo>
                          <a:pt x="0" y="0"/>
                        </a:moveTo>
                        <a:cubicBezTo>
                          <a:pt x="179559" y="-19659"/>
                          <a:pt x="324564" y="220398"/>
                          <a:pt x="339394" y="523481"/>
                        </a:cubicBezTo>
                        <a:cubicBezTo>
                          <a:pt x="355075" y="678728"/>
                          <a:pt x="310798" y="783005"/>
                          <a:pt x="339394" y="952602"/>
                        </a:cubicBezTo>
                        <a:cubicBezTo>
                          <a:pt x="302003" y="1263546"/>
                          <a:pt x="480410" y="1495637"/>
                          <a:pt x="678788" y="1476083"/>
                        </a:cubicBezTo>
                        <a:cubicBezTo>
                          <a:pt x="517233" y="1495319"/>
                          <a:pt x="336681" y="1774940"/>
                          <a:pt x="339394" y="1999564"/>
                        </a:cubicBezTo>
                        <a:cubicBezTo>
                          <a:pt x="388680" y="2218883"/>
                          <a:pt x="320118" y="2360378"/>
                          <a:pt x="339394" y="2549423"/>
                        </a:cubicBezTo>
                        <a:cubicBezTo>
                          <a:pt x="358670" y="2738468"/>
                          <a:pt x="315029" y="2880135"/>
                          <a:pt x="339394" y="3056985"/>
                        </a:cubicBezTo>
                        <a:cubicBezTo>
                          <a:pt x="334266" y="3348800"/>
                          <a:pt x="193744" y="3544428"/>
                          <a:pt x="0" y="3580466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340C-E5CC-74FB-06FF-F6A11C36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51" y="99956"/>
            <a:ext cx="9071640" cy="524359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Decision-Driven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4AEC3-BEEF-9D24-96A3-647D6FBDE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2" y="754744"/>
            <a:ext cx="9071640" cy="456474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Trend: Outcomes (back) in focus </a:t>
            </a:r>
          </a:p>
          <a:p>
            <a:pPr marL="1200150" lvl="1" indent="-514350"/>
            <a:r>
              <a:rPr lang="en-US" sz="1800" dirty="0">
                <a:latin typeface="+mn-lt"/>
              </a:rPr>
              <a:t>This trend is driving a greater focus on impacts to communities</a:t>
            </a:r>
          </a:p>
          <a:p>
            <a:pPr marL="1200150" lvl="1" indent="-514350"/>
            <a:r>
              <a:rPr lang="en-US" sz="1800" dirty="0">
                <a:latin typeface="+mn-lt"/>
              </a:rPr>
              <a:t>Asking the HARDEST question: What value added is Performance Measurement providing?</a:t>
            </a:r>
          </a:p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Cost vs Quality: </a:t>
            </a:r>
          </a:p>
          <a:p>
            <a:pPr marL="1200150" lvl="1" indent="-514350"/>
            <a:r>
              <a:rPr lang="en-US" sz="1800" dirty="0">
                <a:latin typeface="+mn-lt"/>
              </a:rPr>
              <a:t>In addition to focusing on what the community needs/wants, it helps sharpen the discussion of the trade-off between price (efficiency) and quality (outcome/effectiveness). </a:t>
            </a:r>
          </a:p>
          <a:p>
            <a:pPr marL="1200150" lvl="1" indent="-514350"/>
            <a:r>
              <a:rPr lang="en-US" sz="1800" dirty="0">
                <a:latin typeface="+mn-lt"/>
              </a:rPr>
              <a:t>Do ALL programs need to be Lexus-level? Is it ok to fund some programs as Hondas?</a:t>
            </a:r>
          </a:p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Needs of the Decisions steer the boat</a:t>
            </a:r>
          </a:p>
          <a:p>
            <a:pPr marL="1200150" lvl="1" indent="-514350"/>
            <a:r>
              <a:rPr lang="en-US" sz="1800" dirty="0">
                <a:latin typeface="+mn-lt"/>
              </a:rPr>
              <a:t>Turns the conversation from data-driven decisions and </a:t>
            </a:r>
            <a:r>
              <a:rPr lang="en-US" sz="1800" dirty="0"/>
              <a:t>to </a:t>
            </a:r>
            <a:r>
              <a:rPr lang="en-US" sz="1800" dirty="0">
                <a:latin typeface="+mn-lt"/>
              </a:rPr>
              <a:t>ways in which data analytics can help (but not be the sole issue) with difficult decisions</a:t>
            </a:r>
          </a:p>
          <a:p>
            <a:pPr marL="1657350" lvl="2" indent="-514350">
              <a:buFont typeface="Wingdings" panose="05000000000000000000" pitchFamily="2" charset="2"/>
              <a:buChar char="§"/>
            </a:pPr>
            <a:r>
              <a:rPr lang="en-US" sz="1800" dirty="0"/>
              <a:t>Maybe especially at the level of policy, strategic planning, budgets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3191F-36EC-1F87-9ED7-3E1D5EB36333}"/>
              </a:ext>
            </a:extLst>
          </p:cNvPr>
          <p:cNvSpPr txBox="1"/>
          <p:nvPr/>
        </p:nvSpPr>
        <p:spPr>
          <a:xfrm rot="550238">
            <a:off x="6657746" y="474674"/>
            <a:ext cx="3117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Alef" panose="00000500000000000000" pitchFamily="2" charset="-79"/>
                <a:cs typeface="Alef" panose="00000500000000000000" pitchFamily="2" charset="-79"/>
              </a:rPr>
              <a:t>The new Nerd Cool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A2217B-3A02-88D0-38D5-C1DC709DF68C}"/>
              </a:ext>
            </a:extLst>
          </p:cNvPr>
          <p:cNvSpPr/>
          <p:nvPr/>
        </p:nvSpPr>
        <p:spPr>
          <a:xfrm>
            <a:off x="5625136" y="291576"/>
            <a:ext cx="1136007" cy="141118"/>
          </a:xfrm>
          <a:custGeom>
            <a:avLst/>
            <a:gdLst>
              <a:gd name="csX0" fmla="*/ 1772702 w 1772702"/>
              <a:gd name="csY0" fmla="*/ 161081 h 161081"/>
              <a:gd name="csX1" fmla="*/ 992937 w 1772702"/>
              <a:gd name="csY1" fmla="*/ 4006 h 161081"/>
              <a:gd name="csX2" fmla="*/ 0 w 1772702"/>
              <a:gd name="csY2" fmla="*/ 43275 h 161081"/>
              <a:gd name="csX3" fmla="*/ 0 w 1772702"/>
              <a:gd name="csY3" fmla="*/ 43275 h 161081"/>
              <a:gd name="csX4" fmla="*/ 0 w 1772702"/>
              <a:gd name="csY4" fmla="*/ 43275 h 161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72702" h="161081">
                <a:moveTo>
                  <a:pt x="1772702" y="161081"/>
                </a:moveTo>
                <a:cubicBezTo>
                  <a:pt x="1530544" y="92360"/>
                  <a:pt x="1288387" y="23640"/>
                  <a:pt x="992937" y="4006"/>
                </a:cubicBezTo>
                <a:cubicBezTo>
                  <a:pt x="697487" y="-15628"/>
                  <a:pt x="0" y="43275"/>
                  <a:pt x="0" y="43275"/>
                </a:cubicBezTo>
                <a:lnTo>
                  <a:pt x="0" y="43275"/>
                </a:lnTo>
                <a:lnTo>
                  <a:pt x="0" y="43275"/>
                </a:lnTo>
              </a:path>
            </a:pathLst>
          </a:custGeom>
          <a:noFill/>
          <a:ln>
            <a:solidFill>
              <a:srgbClr val="00B0F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4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0CD0-400D-FC59-4733-EC7BD7D6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552" y="282177"/>
            <a:ext cx="7247882" cy="1153935"/>
          </a:xfrm>
          <a:ln w="952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OK, let’s do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06A3F-ED45-9E2A-483A-6C4E60565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436113"/>
            <a:ext cx="9071640" cy="3365889"/>
          </a:xfrm>
        </p:spPr>
        <p:txBody>
          <a:bodyPr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Go to:</a:t>
            </a:r>
          </a:p>
          <a:p>
            <a:pPr algn="ctr"/>
            <a:r>
              <a:rPr lang="en-US" sz="4000" b="1" dirty="0">
                <a:solidFill>
                  <a:srgbClr val="00B0F0"/>
                </a:solidFill>
                <a:latin typeface="Abadi" panose="020B0604020104020204" pitchFamily="34" charset="0"/>
              </a:rPr>
              <a:t>github.com/</a:t>
            </a:r>
            <a:r>
              <a:rPr lang="en-US" sz="4000" b="1" dirty="0" err="1">
                <a:solidFill>
                  <a:srgbClr val="00B0F0"/>
                </a:solidFill>
                <a:latin typeface="Abadi" panose="020B0604020104020204" pitchFamily="34" charset="0"/>
              </a:rPr>
              <a:t>skipkrueger</a:t>
            </a:r>
            <a:endParaRPr lang="en-US" sz="4000" b="1" dirty="0">
              <a:solidFill>
                <a:srgbClr val="00B0F0"/>
              </a:solidFill>
              <a:latin typeface="Abadi" panose="020B0604020104020204" pitchFamily="34" charset="0"/>
            </a:endParaRPr>
          </a:p>
          <a:p>
            <a:pPr algn="ctr"/>
            <a:r>
              <a:rPr lang="en-US" sz="4000" b="1" dirty="0">
                <a:solidFill>
                  <a:srgbClr val="00B0F0"/>
                </a:solidFill>
                <a:latin typeface="Abadi" panose="020B0604020104020204" pitchFamily="34" charset="0"/>
              </a:rPr>
              <a:t>emojidb.org</a:t>
            </a:r>
            <a:endParaRPr lang="en-US" sz="4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11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28B2-13F4-BF9A-E965-B21862237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8" y="0"/>
            <a:ext cx="9071640" cy="559294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Links to some helpful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1C89-5728-B7A5-17B8-787051834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28" y="1130936"/>
            <a:ext cx="4589715" cy="399082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dataset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Emojis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Unicode Symbols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 Color Codes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Visualization for Readers experiencing Color Blindness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Comparative Outcomes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endParaRPr lang="en-US" sz="2400" dirty="0">
              <a:latin typeface="Abadi" panose="020B0604020104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AACA53-1C5C-E7D2-04BB-27BBAF82E07B}"/>
              </a:ext>
            </a:extLst>
          </p:cNvPr>
          <p:cNvGrpSpPr/>
          <p:nvPr/>
        </p:nvGrpSpPr>
        <p:grpSpPr>
          <a:xfrm rot="418790">
            <a:off x="5536850" y="1368497"/>
            <a:ext cx="4135210" cy="3695840"/>
            <a:chOff x="5200299" y="693280"/>
            <a:chExt cx="4642028" cy="40036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0BBB477-416C-EFE7-6FB9-4F5FAE01B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00299" y="693280"/>
              <a:ext cx="4642028" cy="4003650"/>
            </a:xfrm>
            <a:prstGeom prst="rect">
              <a:avLst/>
            </a:prstGeom>
            <a:ln w="60325"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3FB4F47-D6D3-4CBE-EFD3-774C693294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5691" y="3091009"/>
              <a:ext cx="437565" cy="190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0616A8-BFD9-4204-FA8B-6441C2E6140A}"/>
                </a:ext>
              </a:extLst>
            </p:cNvPr>
            <p:cNvSpPr txBox="1"/>
            <p:nvPr/>
          </p:nvSpPr>
          <p:spPr>
            <a:xfrm>
              <a:off x="7954719" y="3186375"/>
              <a:ext cx="11274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Flower Mound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78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92F4-E326-FBD2-E230-61668705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58" y="66013"/>
            <a:ext cx="8694737" cy="562287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accent1"/>
                </a:solidFill>
              </a:rPr>
              <a:t>Things to consider and opportunities to seek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B3AD-D149-58F5-00C5-FD76FBD65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085" y="810318"/>
            <a:ext cx="4265612" cy="426931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Big Picture: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217DE-3A06-2F8A-A9CE-7997B02CE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931" y="1305020"/>
            <a:ext cx="3977360" cy="384666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Audience </a:t>
            </a:r>
            <a:r>
              <a:rPr lang="en-US" sz="1800" dirty="0">
                <a:solidFill>
                  <a:schemeClr val="tx1"/>
                </a:solidFill>
              </a:rPr>
              <a:t>– policy vs </a:t>
            </a:r>
            <a:r>
              <a:rPr lang="en-US" sz="1800" dirty="0" err="1">
                <a:solidFill>
                  <a:schemeClr val="tx1"/>
                </a:solidFill>
              </a:rPr>
              <a:t>mgmt</a:t>
            </a:r>
            <a:r>
              <a:rPr lang="en-US" sz="1800" dirty="0">
                <a:solidFill>
                  <a:schemeClr val="tx1"/>
                </a:solidFill>
              </a:rPr>
              <a:t>, senior </a:t>
            </a:r>
            <a:r>
              <a:rPr lang="en-US" sz="1800" dirty="0" err="1">
                <a:solidFill>
                  <a:schemeClr val="tx1"/>
                </a:solidFill>
              </a:rPr>
              <a:t>mgmt</a:t>
            </a:r>
            <a:r>
              <a:rPr lang="en-US" sz="1800" dirty="0">
                <a:solidFill>
                  <a:schemeClr val="tx1"/>
                </a:solidFill>
              </a:rPr>
              <a:t> vs dept staff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Aggregations</a:t>
            </a:r>
            <a:r>
              <a:rPr lang="en-US" sz="1800" dirty="0"/>
              <a:t> – time, type, teams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Outputs vs Outcomes </a:t>
            </a:r>
            <a:r>
              <a:rPr lang="en-US" sz="1800" dirty="0"/>
              <a:t>– can you find at least short-term outcomes to quantify quality and does it do better than bars of soap?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Set up Fiscal Years </a:t>
            </a:r>
            <a:r>
              <a:rPr lang="en-US" sz="1800" dirty="0">
                <a:solidFill>
                  <a:schemeClr val="tx1"/>
                </a:solidFill>
              </a:rPr>
              <a:t>– helps keep outputs/outcomes connected to budget (inputs)</a:t>
            </a:r>
          </a:p>
          <a:p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2E37E-2510-888F-2126-7219149CA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5744" y="804327"/>
            <a:ext cx="4284662" cy="426931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Visualizations: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1D629-F2FC-041A-205E-140BA5DFF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98964" y="1305020"/>
            <a:ext cx="4578730" cy="216637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Symbols </a:t>
            </a:r>
            <a:r>
              <a:rPr lang="en-US" sz="1800" dirty="0">
                <a:solidFill>
                  <a:schemeClr val="tx1"/>
                </a:solidFill>
              </a:rPr>
              <a:t>–help keep it simple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Trends </a:t>
            </a:r>
            <a:r>
              <a:rPr lang="en-US" sz="1800" dirty="0">
                <a:solidFill>
                  <a:schemeClr val="tx1"/>
                </a:solidFill>
              </a:rPr>
              <a:t>– direction over time is key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Filters </a:t>
            </a:r>
            <a:r>
              <a:rPr lang="en-US" sz="1800" dirty="0">
                <a:solidFill>
                  <a:schemeClr val="tx1"/>
                </a:solidFill>
              </a:rPr>
              <a:t>– can be so helpful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Tool tips </a:t>
            </a:r>
            <a:r>
              <a:rPr lang="en-US" sz="1800" dirty="0">
                <a:solidFill>
                  <a:schemeClr val="tx1"/>
                </a:solidFill>
              </a:rPr>
              <a:t>– unique information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Labels </a:t>
            </a:r>
            <a:r>
              <a:rPr lang="en-US" sz="1800" dirty="0">
                <a:solidFill>
                  <a:schemeClr val="tx1"/>
                </a:solidFill>
              </a:rPr>
              <a:t>– if it’s not necessary, it goes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FE16B-126F-0353-0F19-A44C9C724AD9}"/>
              </a:ext>
            </a:extLst>
          </p:cNvPr>
          <p:cNvSpPr txBox="1"/>
          <p:nvPr/>
        </p:nvSpPr>
        <p:spPr>
          <a:xfrm>
            <a:off x="4657275" y="3758227"/>
            <a:ext cx="5181600" cy="1107996"/>
          </a:xfrm>
          <a:prstGeom prst="rect">
            <a:avLst/>
          </a:prstGeom>
          <a:noFill/>
          <a:ln w="44450"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Bahnschrift SemiBold" panose="020B0502040204020203" pitchFamily="34" charset="0"/>
              </a:rPr>
              <a:t>Decision-Driven Analytics:</a:t>
            </a:r>
          </a:p>
          <a:p>
            <a:endParaRPr lang="en-US" sz="1200" dirty="0">
              <a:latin typeface="Bahnschrift Light" panose="020B0502040204020203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What </a:t>
            </a:r>
            <a:r>
              <a:rPr lang="en-US" b="1" dirty="0">
                <a:solidFill>
                  <a:srgbClr val="FF33CC"/>
                </a:solidFill>
                <a:latin typeface="Abadi" panose="020B0604020104020204" pitchFamily="34" charset="0"/>
              </a:rPr>
              <a:t>decisions</a:t>
            </a:r>
            <a:r>
              <a:rPr lang="en-US" dirty="0">
                <a:latin typeface="Abadi" panose="020B0604020104020204" pitchFamily="34" charset="0"/>
              </a:rPr>
              <a:t> do you want the data to help with?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Let this guide your choices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DAC9F2-7C18-4F79-1CFF-10CB8FC87EE6}"/>
              </a:ext>
            </a:extLst>
          </p:cNvPr>
          <p:cNvSpPr/>
          <p:nvPr/>
        </p:nvSpPr>
        <p:spPr>
          <a:xfrm>
            <a:off x="4390572" y="3618915"/>
            <a:ext cx="5529942" cy="1395772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0183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EF52-963B-826E-7DFC-260AFB7D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12140" cy="822840"/>
          </a:xfrm>
        </p:spPr>
        <p:txBody>
          <a:bodyPr/>
          <a:lstStyle/>
          <a:p>
            <a:pPr algn="l"/>
            <a:r>
              <a:rPr lang="en-US" sz="5400" dirty="0">
                <a:solidFill>
                  <a:schemeClr val="accent1"/>
                </a:solidFill>
              </a:rPr>
              <a:t>Please stay in touch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EC8C9-06F0-D841-3E2E-54D8AFB93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955" y="1094573"/>
            <a:ext cx="4750724" cy="2596686"/>
          </a:xfrm>
          <a:ln w="6350">
            <a:solidFill>
              <a:srgbClr val="00B0F0"/>
            </a:solidFill>
          </a:ln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028700" lvl="1" indent="-342900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Skip@KruegerConsulting.io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Text: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028700" lvl="1" indent="-342900"/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206-486-5749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</a:t>
            </a:r>
          </a:p>
          <a:p>
            <a:pPr marL="1028700" lvl="1" indent="-342900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https://www.linkedin.com/in/skip-krueger-39a3b9153/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C6C7A-0613-0F96-719B-E7A832FBE261}"/>
              </a:ext>
            </a:extLst>
          </p:cNvPr>
          <p:cNvSpPr txBox="1"/>
          <p:nvPr/>
        </p:nvSpPr>
        <p:spPr>
          <a:xfrm>
            <a:off x="5633506" y="462925"/>
            <a:ext cx="4138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vCard: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299CB-927A-E26E-1CFA-40EDC8EB7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971" y="751532"/>
            <a:ext cx="4624511" cy="46245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2001A-7F4B-B4E7-FE32-E2ABEBC466B7}"/>
              </a:ext>
            </a:extLst>
          </p:cNvPr>
          <p:cNvSpPr txBox="1"/>
          <p:nvPr/>
        </p:nvSpPr>
        <p:spPr>
          <a:xfrm>
            <a:off x="202955" y="3929493"/>
            <a:ext cx="50939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Thanks for letting me join you today!</a:t>
            </a:r>
          </a:p>
        </p:txBody>
      </p:sp>
    </p:spTree>
    <p:extLst>
      <p:ext uri="{BB962C8B-B14F-4D97-AF65-F5344CB8AC3E}">
        <p14:creationId xmlns:p14="http://schemas.microsoft.com/office/powerpoint/2010/main" val="32387405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542</Words>
  <Application>Microsoft Office PowerPoint</Application>
  <PresentationFormat>Custom</PresentationFormat>
  <Paragraphs>95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Abadi</vt:lpstr>
      <vt:lpstr>Alef</vt:lpstr>
      <vt:lpstr>Aptos</vt:lpstr>
      <vt:lpstr>Arial</vt:lpstr>
      <vt:lpstr>Bahnschrift Light</vt:lpstr>
      <vt:lpstr>Bahnschrift SemiBold</vt:lpstr>
      <vt:lpstr>Calibri</vt:lpstr>
      <vt:lpstr>Calibri Light</vt:lpstr>
      <vt:lpstr>Cascadia Code SemiBold</vt:lpstr>
      <vt:lpstr>Liberation Sans</vt:lpstr>
      <vt:lpstr>Liberation Serif</vt:lpstr>
      <vt:lpstr>Wingdings</vt:lpstr>
      <vt:lpstr>Default</vt:lpstr>
      <vt:lpstr>PowerPoint Presentation</vt:lpstr>
      <vt:lpstr>PowerPoint Presentation</vt:lpstr>
      <vt:lpstr>The “Logic Model” in Our World</vt:lpstr>
      <vt:lpstr>Developing the Logic: Work the logic model backwards</vt:lpstr>
      <vt:lpstr>Decision-Driven Analytics</vt:lpstr>
      <vt:lpstr>OK, let’s do this</vt:lpstr>
      <vt:lpstr>Links to some helpful information</vt:lpstr>
      <vt:lpstr>Things to consider and opportunities to seek</vt:lpstr>
      <vt:lpstr>Please stay in touch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Skip Krueger</dc:creator>
  <cp:lastModifiedBy>Skip Krueger</cp:lastModifiedBy>
  <cp:revision>17</cp:revision>
  <dcterms:created xsi:type="dcterms:W3CDTF">2026-07-13T17:51:39Z</dcterms:created>
  <dcterms:modified xsi:type="dcterms:W3CDTF">2026-07-17T02:21:39Z</dcterms:modified>
</cp:coreProperties>
</file>